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Raleway" pitchFamily="2" charset="0"/>
      <p:regular r:id="rId21"/>
      <p:bold r:id="rId22"/>
      <p:italic r:id="rId23"/>
      <p:boldItalic r:id="rId24"/>
    </p:embeddedFont>
    <p:embeddedFont>
      <p:font typeface="Raleway Medium" pitchFamily="2" charset="0"/>
      <p:regular r:id="rId25"/>
      <p:bold r:id="rId26"/>
      <p:italic r:id="rId27"/>
      <p:boldItalic r:id="rId28"/>
    </p:embeddedFont>
    <p:embeddedFont>
      <p:font typeface="Raleway SemiBold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2363054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23630543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814cf7d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d814cf7d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723630543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723630543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b9a0b074_1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b9a0b074_1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1b55b6fd6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1b55b6fd6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b55b6fd6_1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1b55b6fd6_1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b55b6fd6_1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1b55b6fd6_1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1b55b6fd6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1b55b6fd6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1b55b6fd6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1b55b6fd6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b55b6fd6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1b55b6fd6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3028ce2d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3028ce2dc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b9a0b074_1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cb9a0b074_1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cb9a0b074_1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cb9a0b074_1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2390275" y="1460200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Urdu.h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/>
              <a:t>A Custom C Library</a:t>
            </a:r>
            <a:endParaRPr sz="3200" b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aleway Medium"/>
                <a:ea typeface="Raleway Medium"/>
                <a:cs typeface="Raleway Medium"/>
                <a:sym typeface="Raleway Medium"/>
              </a:rPr>
              <a:t>By CodeMasters</a:t>
            </a:r>
            <a:endParaRPr sz="20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cxnSp>
        <p:nvCxnSpPr>
          <p:cNvPr id="74" name="Google Shape;74;p13"/>
          <p:cNvCxnSpPr/>
          <p:nvPr/>
        </p:nvCxnSpPr>
        <p:spPr>
          <a:xfrm>
            <a:off x="2139625" y="1567450"/>
            <a:ext cx="11700" cy="1327500"/>
          </a:xfrm>
          <a:prstGeom prst="straightConnector1">
            <a:avLst/>
          </a:prstGeom>
          <a:noFill/>
          <a:ln w="762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535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/>
        </p:nvSpPr>
        <p:spPr>
          <a:xfrm>
            <a:off x="703850" y="413272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1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Contents.</a:t>
            </a:r>
            <a:endParaRPr sz="3000" b="1">
              <a:solidFill>
                <a:schemeClr val="lt1"/>
              </a:solidFill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4294967295"/>
          </p:nvPr>
        </p:nvSpPr>
        <p:spPr>
          <a:xfrm>
            <a:off x="703850" y="1356900"/>
            <a:ext cx="2828100" cy="33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sz="14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Why Urdu.h?</a:t>
            </a:r>
            <a:endParaRPr sz="14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sz="14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What is a Library?</a:t>
            </a:r>
            <a:endParaRPr sz="14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sz="14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What are Functions?</a:t>
            </a:r>
            <a:endParaRPr sz="14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sz="14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Its Use in Our Project</a:t>
            </a:r>
            <a:endParaRPr sz="14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sz="14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of Functions in Urdu.h</a:t>
            </a:r>
            <a:endParaRPr sz="14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sz="14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What are Macros?</a:t>
            </a:r>
            <a:endParaRPr sz="14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367900" y="1356900"/>
            <a:ext cx="3432900" cy="33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Its Use in Our Project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List of Macros in Urdu.h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Output Examples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Explanation of the Code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Demo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Raleway"/>
              <a:buChar char="➔"/>
            </a:pPr>
            <a:r>
              <a:rPr lang="en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The Tools We Used</a:t>
            </a:r>
            <a:endParaRPr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550200" y="-67925"/>
            <a:ext cx="3947400" cy="16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1"/>
                </a:highlight>
              </a:rPr>
              <a:t>Why</a:t>
            </a:r>
            <a:r>
              <a:rPr lang="en"/>
              <a:t> Urdu.h?</a:t>
            </a:r>
            <a:r>
              <a:rPr lang="en" sz="4700"/>
              <a:t> </a:t>
            </a:r>
            <a:endParaRPr sz="47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highlight>
                <a:schemeClr val="dk1"/>
              </a:highlight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081425" y="1597075"/>
            <a:ext cx="3832500" cy="11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Standard C can be a bit intimidating for beginners, so we decided to build something unique and useful; a library that’s fun to use and intuitive for Urdu speakers.</a:t>
            </a:r>
            <a:endParaRPr sz="11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1658850" y="2569075"/>
            <a:ext cx="34692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lt1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What</a:t>
            </a:r>
            <a:r>
              <a:rPr lang="en" sz="28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does it do?</a:t>
            </a:r>
            <a:endParaRPr sz="2800" b="1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661600" y="3223375"/>
            <a:ext cx="4571100" cy="18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Urdu.h is a header-only library that:</a:t>
            </a:r>
            <a:endParaRPr sz="11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1. It uses macros to translate standard C keywords into Roman Urdu (like </a:t>
            </a:r>
            <a:r>
              <a:rPr lang="en" sz="1100" i="1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#define agr if</a:t>
            </a:r>
            <a:r>
              <a:rPr lang="en" sz="11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).</a:t>
            </a:r>
            <a:endParaRPr sz="11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2. Simplifies pre-built functions for common tasks (e.g., </a:t>
            </a:r>
            <a:r>
              <a:rPr lang="en" sz="1100" i="1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parhle</a:t>
            </a:r>
            <a:r>
              <a:rPr lang="en" sz="11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handles input in one line).</a:t>
            </a:r>
            <a:endParaRPr sz="11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3. Removes the need to memorize format specifiers (%d, %s, etc.).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5"/>
          <p:cNvSpPr/>
          <p:nvPr/>
        </p:nvSpPr>
        <p:spPr>
          <a:xfrm rot="10800000">
            <a:off x="4882200" y="-125"/>
            <a:ext cx="4261800" cy="24399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title="pexels-element5-1370298.jpg"/>
          <p:cNvPicPr preferRelativeResize="0"/>
          <p:nvPr/>
        </p:nvPicPr>
        <p:blipFill rotWithShape="1">
          <a:blip r:embed="rId3">
            <a:alphaModFix/>
          </a:blip>
          <a:srcRect l="33588" r="7142"/>
          <a:stretch/>
        </p:blipFill>
        <p:spPr>
          <a:xfrm>
            <a:off x="-1" y="0"/>
            <a:ext cx="4567199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>
            <a:off x="4832750" y="980400"/>
            <a:ext cx="4033800" cy="318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What is a Library?</a:t>
            </a:r>
            <a:endParaRPr sz="30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Its a pre-written collection of functions and code that you can include in your program to perform specific tasks</a:t>
            </a:r>
            <a:endParaRPr sz="160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“</a:t>
            </a:r>
            <a:r>
              <a:rPr lang="en" sz="1400" i="1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Stdio.h</a:t>
            </a:r>
            <a:r>
              <a:rPr lang="en" sz="1400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” is an example of a library in C.</a:t>
            </a:r>
            <a:endParaRPr sz="1400">
              <a:solidFill>
                <a:srgbClr val="000000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grpSp>
        <p:nvGrpSpPr>
          <p:cNvPr id="97" name="Google Shape;97;p16"/>
          <p:cNvGrpSpPr/>
          <p:nvPr/>
        </p:nvGrpSpPr>
        <p:grpSpPr>
          <a:xfrm>
            <a:off x="134988" y="2464035"/>
            <a:ext cx="2212050" cy="2537076"/>
            <a:chOff x="6803275" y="395363"/>
            <a:chExt cx="2212050" cy="2537076"/>
          </a:xfrm>
        </p:grpSpPr>
        <p:pic>
          <p:nvPicPr>
            <p:cNvPr id="98" name="Google Shape;98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6" descr="Piece of duct tape sticking a note to the slide"/>
            <p:cNvPicPr preferRelativeResize="0"/>
            <p:nvPr/>
          </p:nvPicPr>
          <p:blipFill rotWithShape="1">
            <a:blip r:embed="rId5">
              <a:alphaModFix/>
            </a:blip>
            <a:srcRect l="9244" t="5926" r="2118" b="10011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16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Why use a Library?</a:t>
              </a:r>
              <a:endPara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b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lang="en" sz="1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Libraries help reduce development time and enhance reusability of code</a:t>
              </a:r>
              <a:endParaRPr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subTitle" idx="1"/>
          </p:nvPr>
        </p:nvSpPr>
        <p:spPr>
          <a:xfrm>
            <a:off x="265500" y="802400"/>
            <a:ext cx="4306500" cy="383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</a:rPr>
              <a:t>What are Functions?</a:t>
            </a:r>
            <a:endParaRPr sz="30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Function is a self-contained block of code designed to perform a specific task.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 Functions are fundamental to modular programming, allowing developers to break down complex programs into smaller, more manageable, and reusable units.</a:t>
            </a:r>
            <a:endParaRPr sz="1600"/>
          </a:p>
        </p:txBody>
      </p:sp>
      <p:pic>
        <p:nvPicPr>
          <p:cNvPr id="106" name="Google Shape;106;p17" title="gear.png"/>
          <p:cNvPicPr preferRelativeResize="0"/>
          <p:nvPr/>
        </p:nvPicPr>
        <p:blipFill rotWithShape="1">
          <a:blip r:embed="rId3">
            <a:alphaModFix/>
          </a:blip>
          <a:srcRect l="20678" b="21519"/>
          <a:stretch/>
        </p:blipFill>
        <p:spPr>
          <a:xfrm>
            <a:off x="4572000" y="2133150"/>
            <a:ext cx="3042550" cy="3010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7"/>
          <p:cNvGrpSpPr/>
          <p:nvPr/>
        </p:nvGrpSpPr>
        <p:grpSpPr>
          <a:xfrm>
            <a:off x="6616888" y="348460"/>
            <a:ext cx="2212050" cy="2537076"/>
            <a:chOff x="6803275" y="395363"/>
            <a:chExt cx="2212050" cy="2537076"/>
          </a:xfrm>
        </p:grpSpPr>
        <p:pic>
          <p:nvPicPr>
            <p:cNvPr id="108" name="Google Shape;108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7" descr="Piece of duct tape sticking a note to the slide"/>
            <p:cNvPicPr preferRelativeResize="0"/>
            <p:nvPr/>
          </p:nvPicPr>
          <p:blipFill rotWithShape="1">
            <a:blip r:embed="rId5">
              <a:alphaModFix/>
            </a:blip>
            <a:srcRect l="9244" t="5926" r="2118" b="10011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Did you know?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C itself has no built-in input/output operations or other common functions, they are all defined in libraries.</a:t>
              </a:r>
              <a:endParaRPr sz="12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277225" y="39100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Functions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ubTitle" idx="1"/>
          </p:nvPr>
        </p:nvSpPr>
        <p:spPr>
          <a:xfrm>
            <a:off x="217200" y="1709204"/>
            <a:ext cx="4045200" cy="25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We used functions to define and modify predefined functions present in C.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30200" algn="l" rtl="0">
              <a:spcBef>
                <a:spcPts val="1000"/>
              </a:spcBef>
              <a:spcAft>
                <a:spcPts val="1000"/>
              </a:spcAft>
              <a:buSzPts val="1600"/>
              <a:buFont typeface="Raleway Medium"/>
              <a:buChar char="●"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The efficiency, in some cases, increased due to our modifications.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500" y="391000"/>
            <a:ext cx="4133575" cy="22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/>
        </p:nvSpPr>
        <p:spPr>
          <a:xfrm>
            <a:off x="4852625" y="2926600"/>
            <a:ext cx="4133700" cy="12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 C, the usual input taking would be around 3 lines of code. In Urdu.h, it reduces to just one. Thus, increasing the efficiency.</a:t>
            </a:r>
            <a:endParaRPr sz="12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77" y="1208249"/>
            <a:ext cx="4042099" cy="372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 descr="Piece of duct tape sticking a note to the slide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3">
            <a:off x="1337466" y="1147883"/>
            <a:ext cx="1968526" cy="69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>
            <a:spLocks noGrp="1"/>
          </p:cNvSpPr>
          <p:nvPr>
            <p:ph type="body" idx="4294967295"/>
          </p:nvPr>
        </p:nvSpPr>
        <p:spPr>
          <a:xfrm>
            <a:off x="576627" y="1376550"/>
            <a:ext cx="3490200" cy="3162900"/>
          </a:xfrm>
          <a:prstGeom prst="rect">
            <a:avLst/>
          </a:prstGeom>
        </p:spPr>
        <p:txBody>
          <a:bodyPr spcFirstLastPara="1" wrap="square" lIns="86825" tIns="86825" rIns="86825" bIns="86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40"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152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printf()        - likhde()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scanf()        - parhle()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puts()          - likhde_line()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putchar()       - likhde_harf()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strcat()        - jodo()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strcpy()        - nakal()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strcmp()        - muqabla()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strlen()        - lambai()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0" algn="l" rtl="0">
              <a:spcBef>
                <a:spcPts val="950"/>
              </a:spcBef>
              <a:spcAft>
                <a:spcPts val="950"/>
              </a:spcAft>
              <a:buNone/>
            </a:pP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177" y="1208250"/>
            <a:ext cx="4042099" cy="370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 descr="Piece of duct tape sticking a note to the slide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3">
            <a:off x="5743966" y="1100903"/>
            <a:ext cx="1968526" cy="69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>
            <a:spLocks noGrp="1"/>
          </p:cNvSpPr>
          <p:nvPr>
            <p:ph type="body" idx="4294967295"/>
          </p:nvPr>
        </p:nvSpPr>
        <p:spPr>
          <a:xfrm>
            <a:off x="4983125" y="1056950"/>
            <a:ext cx="3490200" cy="3656700"/>
          </a:xfrm>
          <a:prstGeom prst="rect">
            <a:avLst/>
          </a:prstGeom>
        </p:spPr>
        <p:txBody>
          <a:bodyPr spcFirstLastPara="1" wrap="square" lIns="86825" tIns="86825" rIns="86825" bIns="86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40"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520"/>
              </a:spcBef>
              <a:spcAft>
                <a:spcPts val="0"/>
              </a:spcAft>
              <a:buNone/>
            </a:pPr>
            <a:endParaRPr sz="1140"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152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toupper()       - bara_karo()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tolower()       - chhota_karo()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isdigit()       - kya_adad()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isalpha()       - kya_harf()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isalnum()       - kya_harfya_adad()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fopen()         - file_kholo()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fclose()        - file_band()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fprintf()       - file_likho()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0" algn="l" rtl="0">
              <a:spcBef>
                <a:spcPts val="950"/>
              </a:spcBef>
              <a:spcAft>
                <a:spcPts val="950"/>
              </a:spcAft>
              <a:buNone/>
            </a:pP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2433174" y="203250"/>
            <a:ext cx="44274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86825" rIns="86825" bIns="868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75" b="1">
                <a:solidFill>
                  <a:schemeClr val="dk1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List of all the Functions</a:t>
            </a:r>
            <a:endParaRPr sz="2775" b="1">
              <a:solidFill>
                <a:schemeClr val="dk1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041675" y="4795645"/>
            <a:ext cx="931500" cy="1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continued… </a:t>
            </a:r>
            <a:endParaRPr sz="1000">
              <a:solidFill>
                <a:schemeClr val="lt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2409699" y="168025"/>
            <a:ext cx="44274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86825" rIns="86825" bIns="868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75" b="1">
                <a:solidFill>
                  <a:schemeClr val="dk1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List of all the Functions</a:t>
            </a:r>
            <a:endParaRPr sz="2775" b="1">
              <a:solidFill>
                <a:schemeClr val="dk1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0" y="2671616"/>
            <a:ext cx="6837000" cy="2470500"/>
          </a:xfrm>
          <a:prstGeom prst="rtTriangle">
            <a:avLst/>
          </a:prstGeom>
          <a:solidFill>
            <a:srgbClr val="353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702" y="1132074"/>
            <a:ext cx="4042099" cy="37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>
            <a:spLocks noGrp="1"/>
          </p:cNvSpPr>
          <p:nvPr>
            <p:ph type="body" idx="4294967295"/>
          </p:nvPr>
        </p:nvSpPr>
        <p:spPr>
          <a:xfrm>
            <a:off x="2685652" y="1540975"/>
            <a:ext cx="3490200" cy="3162900"/>
          </a:xfrm>
          <a:prstGeom prst="rect">
            <a:avLst/>
          </a:prstGeom>
        </p:spPr>
        <p:txBody>
          <a:bodyPr spcFirstLastPara="1" wrap="square" lIns="86825" tIns="86825" rIns="86825" bIns="86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40"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152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fscanf()        - file_lo()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fgets()         - line_lo()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fputs()         - line_likho()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time()          - abhi_ka_time(), abhi_ka_wakt(), aaj_ki_tareekh()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sleep loop      - ruk_jana()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lt2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ctime()         - likhde_abhi_ka_time()</a:t>
            </a:r>
            <a:endParaRPr sz="133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0" algn="l" rtl="0">
              <a:spcBef>
                <a:spcPts val="950"/>
              </a:spcBef>
              <a:spcAft>
                <a:spcPts val="950"/>
              </a:spcAft>
              <a:buNone/>
            </a:pP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9" name="Google Shape;139;p20" descr="Piece of duct tape sticking a note to the slide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3">
            <a:off x="3446491" y="1030483"/>
            <a:ext cx="1968526" cy="69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subTitle" idx="1"/>
          </p:nvPr>
        </p:nvSpPr>
        <p:spPr>
          <a:xfrm>
            <a:off x="264200" y="1957780"/>
            <a:ext cx="4045200" cy="27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Macros are symbolic names or fragments of code defined using the #define preprocessor directive. </a:t>
            </a:r>
            <a:endParaRPr sz="16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They are essentially text substitutions that the preprocessor performs before the actual compilation process begins.</a:t>
            </a:r>
            <a:endParaRPr sz="1600"/>
          </a:p>
        </p:txBody>
      </p:sp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168650" y="348450"/>
            <a:ext cx="4236300" cy="11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Macros?</a:t>
            </a:r>
            <a:endParaRPr/>
          </a:p>
        </p:txBody>
      </p:sp>
      <p:pic>
        <p:nvPicPr>
          <p:cNvPr id="146" name="Google Shape;146;p21" title="Screenshot 2025-11-13 1501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000" y="348450"/>
            <a:ext cx="4010025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4954925" y="3109200"/>
            <a:ext cx="4010100" cy="12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For example, in the above program, ‘</a:t>
            </a:r>
            <a:r>
              <a:rPr lang="en" sz="1200" i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PI</a:t>
            </a:r>
            <a:r>
              <a:rPr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’ is defined as 3.14159. The square of a number is also defined.</a:t>
            </a:r>
            <a:br>
              <a:rPr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Whenever the defined arguments appear in the program, they are replaced with their defined values or expressions.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265500" y="58325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of Macros</a:t>
            </a: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ubTitle" idx="1"/>
          </p:nvPr>
        </p:nvSpPr>
        <p:spPr>
          <a:xfrm>
            <a:off x="210275" y="1899000"/>
            <a:ext cx="4045200" cy="23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We used Macros to define/change the names of certain functions C language already has.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 sz="1600">
                <a:latin typeface="Raleway Medium"/>
                <a:ea typeface="Raleway Medium"/>
                <a:cs typeface="Raleway Medium"/>
                <a:sym typeface="Raleway Medium"/>
              </a:rPr>
              <a:t>The use of Macros was adopted in places where functions would be inefficient.  </a:t>
            </a:r>
            <a:endParaRPr sz="160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738" y="724200"/>
            <a:ext cx="271462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535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677" y="1208249"/>
            <a:ext cx="4042099" cy="3728275"/>
          </a:xfrm>
          <a:prstGeom prst="rect">
            <a:avLst/>
          </a:prstGeom>
          <a:noFill/>
          <a:ln w="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0" name="Google Shape;160;p23" descr="Piece of duct tape sticking a note to the slide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3">
            <a:off x="1337466" y="1147883"/>
            <a:ext cx="1968526" cy="69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>
            <a:spLocks noGrp="1"/>
          </p:cNvSpPr>
          <p:nvPr>
            <p:ph type="body" idx="4294967295"/>
          </p:nvPr>
        </p:nvSpPr>
        <p:spPr>
          <a:xfrm>
            <a:off x="576627" y="1376550"/>
            <a:ext cx="3490200" cy="3162900"/>
          </a:xfrm>
          <a:prstGeom prst="rect">
            <a:avLst/>
          </a:prstGeom>
        </p:spPr>
        <p:txBody>
          <a:bodyPr spcFirstLastPara="1" wrap="square" lIns="86825" tIns="86825" rIns="86825" bIns="86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40"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agr - if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warna - else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warna_agr  - else if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badal - switch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surat - case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warna_sab  - default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jab_tak - while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karo - do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0" algn="l" rtl="0">
              <a:spcBef>
                <a:spcPts val="950"/>
              </a:spcBef>
              <a:spcAft>
                <a:spcPts val="950"/>
              </a:spcAft>
              <a:buNone/>
            </a:pP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2783224" y="226750"/>
            <a:ext cx="3912600" cy="7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825" tIns="86825" rIns="86825" bIns="868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75" b="1">
                <a:solidFill>
                  <a:schemeClr val="dk1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rPr>
              <a:t>List of all the Macros</a:t>
            </a:r>
            <a:endParaRPr sz="2775" b="1">
              <a:solidFill>
                <a:schemeClr val="dk1"/>
              </a:solidFill>
              <a:highlight>
                <a:schemeClr val="lt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1902" y="1208249"/>
            <a:ext cx="4042099" cy="3728275"/>
          </a:xfrm>
          <a:prstGeom prst="rect">
            <a:avLst/>
          </a:prstGeom>
          <a:noFill/>
          <a:ln w="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4" name="Google Shape;164;p23" descr="Piece of duct tape sticking a note to the slide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3">
            <a:off x="5708691" y="1147883"/>
            <a:ext cx="1968526" cy="69929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body" idx="4294967295"/>
          </p:nvPr>
        </p:nvSpPr>
        <p:spPr>
          <a:xfrm>
            <a:off x="4947852" y="1376550"/>
            <a:ext cx="3490200" cy="3162900"/>
          </a:xfrm>
          <a:prstGeom prst="rect">
            <a:avLst/>
          </a:prstGeom>
        </p:spPr>
        <p:txBody>
          <a:bodyPr spcFirstLastPara="1" wrap="square" lIns="86825" tIns="86825" rIns="86825" bIns="868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40"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agay_chalo - continue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ruk_jao  - break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file_kholo - fopen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file_lo - fscanf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bara_karo - toupper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-301644" algn="l" rtl="0">
              <a:spcBef>
                <a:spcPts val="95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Raleway"/>
              <a:buChar char="➔"/>
            </a:pPr>
            <a:r>
              <a:rPr lang="en" sz="133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chota_karo - tolower</a:t>
            </a: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34367" lvl="0" indent="0" algn="l" rtl="0">
              <a:spcBef>
                <a:spcPts val="950"/>
              </a:spcBef>
              <a:spcAft>
                <a:spcPts val="950"/>
              </a:spcAft>
              <a:buNone/>
            </a:pPr>
            <a:endParaRPr sz="133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535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>
            <a:off x="523700" y="1723925"/>
            <a:ext cx="2958300" cy="2804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4276075" y="596925"/>
            <a:ext cx="3304200" cy="3931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557750" y="469950"/>
            <a:ext cx="2753700" cy="6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highlight>
                  <a:schemeClr val="dk1"/>
                </a:highlight>
                <a:latin typeface="Raleway SemiBold"/>
                <a:ea typeface="Raleway SemiBold"/>
                <a:cs typeface="Raleway SemiBold"/>
                <a:sym typeface="Raleway SemiBold"/>
              </a:rPr>
              <a:t>Output</a:t>
            </a:r>
            <a:r>
              <a:rPr lang="en" sz="2800">
                <a:solidFill>
                  <a:schemeClr val="dk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</a:t>
            </a:r>
            <a:r>
              <a:rPr lang="en" sz="28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Examples</a:t>
            </a:r>
            <a:endParaRPr sz="28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73" name="Google Shape;173;p24" title="WhatsApp Image 2025-11-13 at 2.59.31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525" y="673943"/>
            <a:ext cx="3174450" cy="377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 title="WhatsApp Image 2025-11-13 at 2.59.19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363" y="1778843"/>
            <a:ext cx="2829575" cy="2665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353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345250"/>
            <a:ext cx="4254600" cy="463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5" descr="Piece of duct tape sticking a note to the slide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 txBox="1"/>
          <p:nvPr/>
        </p:nvSpPr>
        <p:spPr>
          <a:xfrm>
            <a:off x="2683514" y="792542"/>
            <a:ext cx="3966668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Tools We Used</a:t>
            </a:r>
            <a:endParaRPr sz="3000" b="1" dirty="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4294967295"/>
          </p:nvPr>
        </p:nvSpPr>
        <p:spPr>
          <a:xfrm>
            <a:off x="2855550" y="1787329"/>
            <a:ext cx="3432900" cy="28193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Raleway"/>
                <a:ea typeface="Raleway"/>
                <a:cs typeface="Raleway"/>
                <a:sym typeface="Raleway"/>
              </a:rPr>
              <a:t>These tools made our library easy to manage and code. 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4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VS Code</a:t>
            </a:r>
            <a:br>
              <a:rPr lang="en" sz="1200" dirty="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 dirty="0">
                <a:latin typeface="Raleway"/>
                <a:ea typeface="Raleway"/>
                <a:cs typeface="Raleway"/>
                <a:sym typeface="Raleway"/>
              </a:rPr>
              <a:t>To code the header file and the demo.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lang="en" sz="14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AI</a:t>
            </a:r>
            <a:br>
              <a:rPr lang="en" sz="1200" dirty="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 dirty="0">
                <a:latin typeface="Raleway"/>
                <a:ea typeface="Raleway"/>
                <a:cs typeface="Raleway"/>
                <a:sym typeface="Raleway"/>
              </a:rPr>
              <a:t>To clarify queries on fundamental programming concepts.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  <a:p>
            <a:pPr marL="457200" lvl="0" indent="-3048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Raleway"/>
              <a:buChar char="➔"/>
            </a:pPr>
            <a:r>
              <a:rPr lang="en" sz="14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Doxygen</a:t>
            </a:r>
            <a:br>
              <a:rPr lang="en" sz="1200" dirty="0">
                <a:latin typeface="Raleway"/>
                <a:ea typeface="Raleway"/>
                <a:cs typeface="Raleway"/>
                <a:sym typeface="Raleway"/>
              </a:rPr>
            </a:br>
            <a:r>
              <a:rPr lang="en" sz="1200" dirty="0">
                <a:latin typeface="Raleway"/>
                <a:ea typeface="Raleway"/>
                <a:cs typeface="Raleway"/>
                <a:sym typeface="Raleway"/>
              </a:rPr>
              <a:t>To create a complete, professional documentation of the project.</a:t>
            </a:r>
            <a:endParaRPr sz="1200" dirty="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0900" y="20328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 descr="Piece of duct tape sticking a note to the slide"/>
          <p:cNvPicPr preferRelativeResize="0"/>
          <p:nvPr/>
        </p:nvPicPr>
        <p:blipFill rotWithShape="1">
          <a:blip r:embed="rId4">
            <a:alphaModFix/>
          </a:blip>
          <a:srcRect l="9244" t="5926" r="2118" b="10011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  <a:endParaRPr sz="3000" b="1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4294967295"/>
          </p:nvPr>
        </p:nvSpPr>
        <p:spPr>
          <a:xfrm>
            <a:off x="2855550" y="1580250"/>
            <a:ext cx="3507000" cy="5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Take a look at our project and </a:t>
            </a:r>
            <a:r>
              <a:rPr lang="en" sz="1097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try urdu.h </a:t>
            </a:r>
            <a:r>
              <a:rPr lang="en" sz="1097">
                <a:latin typeface="Raleway"/>
                <a:ea typeface="Raleway"/>
                <a:cs typeface="Raleway"/>
                <a:sym typeface="Raleway"/>
              </a:rPr>
              <a:t>yourself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!</a:t>
            </a:r>
            <a:br>
              <a:rPr lang="en" sz="1200">
                <a:latin typeface="Raleway"/>
                <a:ea typeface="Raleway"/>
                <a:cs typeface="Raleway"/>
                <a:sym typeface="Raleway"/>
              </a:rPr>
            </a:br>
            <a:endParaRPr sz="1200" u="sng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1" name="Google Shape;191;p26" title="Screenshot 2025-11-13 19060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5150" y="2358900"/>
            <a:ext cx="2173699" cy="2036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779</Words>
  <Application>Microsoft Office PowerPoint</Application>
  <PresentationFormat>On-screen Show (16:9)</PresentationFormat>
  <Paragraphs>105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Raleway</vt:lpstr>
      <vt:lpstr>Raleway Medium</vt:lpstr>
      <vt:lpstr>Lato</vt:lpstr>
      <vt:lpstr>Raleway SemiBold</vt:lpstr>
      <vt:lpstr>Arial</vt:lpstr>
      <vt:lpstr>Swiss</vt:lpstr>
      <vt:lpstr>Urdu.h A Custom C Library</vt:lpstr>
      <vt:lpstr>PowerPoint Presentation</vt:lpstr>
      <vt:lpstr> Why Urdu.h?  </vt:lpstr>
      <vt:lpstr>PowerPoint Presentation</vt:lpstr>
      <vt:lpstr>PowerPoint Presentation</vt:lpstr>
      <vt:lpstr>Use of Functions</vt:lpstr>
      <vt:lpstr>PowerPoint Presentation</vt:lpstr>
      <vt:lpstr>PowerPoint Presentation</vt:lpstr>
      <vt:lpstr>What are Macros?</vt:lpstr>
      <vt:lpstr>Use of Macros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Muneeb Rehman</cp:lastModifiedBy>
  <cp:revision>1</cp:revision>
  <dcterms:modified xsi:type="dcterms:W3CDTF">2025-11-13T16:03:28Z</dcterms:modified>
</cp:coreProperties>
</file>